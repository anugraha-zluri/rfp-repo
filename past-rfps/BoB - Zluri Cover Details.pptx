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Lexend SemiBold"/>
      <p:regular r:id="rId17"/>
      <p:bold r:id="rId18"/>
    </p:embeddedFont>
    <p:embeddedFont>
      <p:font typeface="Lexend Light"/>
      <p:regular r:id="rId19"/>
      <p:bold r:id="rId20"/>
    </p:embeddedFon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swt8dwV42CyPQQrJgeVhkLDAo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Light-bold.fntdata"/><Relationship Id="rId11" Type="http://schemas.openxmlformats.org/officeDocument/2006/relationships/slide" Target="slides/slide7.xml"/><Relationship Id="rId22" Type="http://schemas.openxmlformats.org/officeDocument/2006/relationships/font" Target="fonts/Lexend-bold.fntdata"/><Relationship Id="rId10" Type="http://schemas.openxmlformats.org/officeDocument/2006/relationships/slide" Target="slides/slide6.xml"/><Relationship Id="rId21" Type="http://schemas.openxmlformats.org/officeDocument/2006/relationships/font" Target="fonts/Lexend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exendSemiBol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exendLight-regular.fntdata"/><Relationship Id="rId6" Type="http://schemas.openxmlformats.org/officeDocument/2006/relationships/slide" Target="slides/slide2.xml"/><Relationship Id="rId18" Type="http://schemas.openxmlformats.org/officeDocument/2006/relationships/font" Target="fonts/Lexend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85bdb4dc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985bdb4dc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85bdb4dc1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zluri.com/catalog" TargetMode="External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zluri.com" TargetMode="External"/><Relationship Id="rId4" Type="http://schemas.openxmlformats.org/officeDocument/2006/relationships/hyperlink" Target="mailto:sales@zluri.com" TargetMode="External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www.zluri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96358"/>
            <a:ext cx="1789390" cy="77366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/>
          <p:nvPr/>
        </p:nvSpPr>
        <p:spPr>
          <a:xfrm>
            <a:off x="793800" y="1404897"/>
            <a:ext cx="7556400" cy="1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Solving the Modern SaaS Chaos</a:t>
            </a:r>
            <a:endParaRPr b="0" i="0" sz="4450" u="none" cap="none" strike="noStrike"/>
          </a:p>
        </p:txBody>
      </p:sp>
      <p:sp>
        <p:nvSpPr>
          <p:cNvPr id="52" name="Google Shape;52;p1"/>
          <p:cNvSpPr/>
          <p:nvPr/>
        </p:nvSpPr>
        <p:spPr>
          <a:xfrm>
            <a:off x="793800" y="3315577"/>
            <a:ext cx="7556400" cy="17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Lexend Light"/>
              <a:buNone/>
            </a:pPr>
            <a:r>
              <a:rPr b="0" i="0" lang="en-US" sz="18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Today's organizations deploy hundreds of SaaS applications across their operations—but most remain unmanaged and invisible to IT. This sprawl creates a perfect storm of challenges that threaten security,</a:t>
            </a:r>
            <a:r>
              <a:rPr lang="en-US" sz="185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access automation - </a:t>
            </a:r>
            <a:r>
              <a:rPr b="0" i="0" lang="en-US" sz="18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creat</a:t>
            </a:r>
            <a:r>
              <a:rPr lang="en-US" sz="185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ing</a:t>
            </a:r>
            <a:r>
              <a:rPr b="0" i="0" lang="en-US" sz="18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operational bottlenecks.</a:t>
            </a:r>
            <a:endParaRPr b="0" i="0" sz="1850" u="none" cap="none" strike="noStrike"/>
          </a:p>
        </p:txBody>
      </p:sp>
      <p:sp>
        <p:nvSpPr>
          <p:cNvPr id="53" name="Google Shape;53;p1"/>
          <p:cNvSpPr/>
          <p:nvPr/>
        </p:nvSpPr>
        <p:spPr>
          <a:xfrm>
            <a:off x="793790" y="5457843"/>
            <a:ext cx="7556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Lexend Light"/>
              <a:buNone/>
            </a:pPr>
            <a:r>
              <a:rPr b="1" lang="en-US" sz="175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Zluri help you solve for the “Do </a:t>
            </a:r>
            <a:r>
              <a:rPr b="1" i="0" lang="en-US" sz="1750" u="none" cap="none" strike="noStrike">
                <a:solidFill>
                  <a:srgbClr val="F44444"/>
                </a:solidFill>
                <a:latin typeface="Lexend Light"/>
                <a:ea typeface="Lexend Light"/>
                <a:cs typeface="Lexend Light"/>
                <a:sym typeface="Lexend Light"/>
              </a:rPr>
              <a:t>right people</a:t>
            </a:r>
            <a:r>
              <a:rPr b="1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have the </a:t>
            </a:r>
            <a:r>
              <a:rPr b="1" i="0" lang="en-US" sz="1750" u="none" cap="none" strike="noStrike">
                <a:solidFill>
                  <a:srgbClr val="F44444"/>
                </a:solidFill>
                <a:latin typeface="Lexend Light"/>
                <a:ea typeface="Lexend Light"/>
                <a:cs typeface="Lexend Light"/>
                <a:sym typeface="Lexend Light"/>
              </a:rPr>
              <a:t>right access</a:t>
            </a:r>
            <a:r>
              <a:rPr b="1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to the </a:t>
            </a:r>
            <a:r>
              <a:rPr b="1" i="0" lang="en-US" sz="1750" u="none" cap="none" strike="noStrike">
                <a:solidFill>
                  <a:srgbClr val="F44444"/>
                </a:solidFill>
                <a:latin typeface="Lexend Light"/>
                <a:ea typeface="Lexend Light"/>
                <a:cs typeface="Lexend Light"/>
                <a:sym typeface="Lexend Light"/>
              </a:rPr>
              <a:t>right resources</a:t>
            </a:r>
            <a:r>
              <a:rPr b="1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at the </a:t>
            </a:r>
            <a:r>
              <a:rPr b="1" i="0" lang="en-US" sz="1750" u="none" cap="none" strike="noStrike">
                <a:solidFill>
                  <a:srgbClr val="F44444"/>
                </a:solidFill>
                <a:latin typeface="Lexend Light"/>
                <a:ea typeface="Lexend Light"/>
                <a:cs typeface="Lexend Light"/>
                <a:sym typeface="Lexend Light"/>
              </a:rPr>
              <a:t>right time</a:t>
            </a:r>
            <a:r>
              <a:rPr b="1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?</a:t>
            </a:r>
            <a:r>
              <a:rPr b="1" lang="en-US" sz="175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” problem.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793800" y="479975"/>
            <a:ext cx="132411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The Challenge: Critical Pain Points</a:t>
            </a:r>
            <a:endParaRPr b="0" i="0" sz="445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793800" y="1683900"/>
            <a:ext cx="6413700" cy="2366400"/>
          </a:xfrm>
          <a:prstGeom prst="roundRect">
            <a:avLst>
              <a:gd fmla="val 3223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016794" y="1906905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839844" y="2071679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SemiBold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Visibility Gap</a:t>
            </a:r>
            <a:endParaRPr b="0" i="0" sz="21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1016800" y="2698079"/>
            <a:ext cx="59676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Lexend Light"/>
              <a:buNone/>
            </a:pPr>
            <a:r>
              <a:rPr b="0" i="0" lang="en-US" sz="1700" u="none" cap="none" strike="noStrike">
                <a:latin typeface="Lexend Light"/>
                <a:ea typeface="Lexend Light"/>
                <a:cs typeface="Lexend Light"/>
                <a:sym typeface="Lexend Light"/>
              </a:rPr>
              <a:t>IT teams lack complete visibility into which applications employees are actually using, leading to Shadow IT proliferation and security blind spots.</a:t>
            </a:r>
            <a:endParaRPr b="0" i="0" sz="17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7422825" y="1683900"/>
            <a:ext cx="6413700" cy="2399400"/>
          </a:xfrm>
          <a:prstGeom prst="roundRect">
            <a:avLst>
              <a:gd fmla="val 3223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7645837" y="1906905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390394" y="2071675"/>
            <a:ext cx="4091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SemiBold"/>
              <a:buNone/>
            </a:pPr>
            <a:r>
              <a:rPr b="1" lang="en-US" sz="210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Licence Under-utilisation</a:t>
            </a:r>
            <a:endParaRPr b="0" i="0" sz="210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7645825" y="2698075"/>
            <a:ext cx="5967900" cy="14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Lexend Light"/>
              <a:buNone/>
            </a:pP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Without centralized licence tracking and usage </a:t>
            </a: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monitoring</a:t>
            </a: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 organizations have to </a:t>
            </a: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manually</a:t>
            </a: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 manage for redundant licenses and under - utilised licences.</a:t>
            </a:r>
            <a:endParaRPr b="0" i="0" sz="165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793800" y="4707250"/>
            <a:ext cx="6413700" cy="2366400"/>
          </a:xfrm>
          <a:prstGeom prst="roundRect">
            <a:avLst>
              <a:gd fmla="val 3223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1016794" y="4930259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1839769" y="5095046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SemiBold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Security Risks</a:t>
            </a:r>
            <a:endParaRPr b="0" i="0" sz="2100" u="none" cap="none" strike="noStrike"/>
          </a:p>
        </p:txBody>
      </p:sp>
      <p:sp>
        <p:nvSpPr>
          <p:cNvPr id="71" name="Google Shape;71;p2"/>
          <p:cNvSpPr/>
          <p:nvPr/>
        </p:nvSpPr>
        <p:spPr>
          <a:xfrm>
            <a:off x="1016800" y="5721527"/>
            <a:ext cx="59676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Lexend Light"/>
              <a:buNone/>
            </a:pP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Access sprawl and ungoverned applications create compliance violations and expose sensitive data to unauthorized users.</a:t>
            </a:r>
            <a:endParaRPr b="0" i="0" sz="16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7422825" y="4707251"/>
            <a:ext cx="6413700" cy="2366400"/>
          </a:xfrm>
          <a:prstGeom prst="roundRect">
            <a:avLst>
              <a:gd fmla="val 3223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7645837" y="4930259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8527575" y="5095050"/>
            <a:ext cx="37188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SemiBold"/>
              <a:buNone/>
            </a:pPr>
            <a:r>
              <a:rPr b="1" i="0" lang="en-US" sz="21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Manual Inefficiency</a:t>
            </a:r>
            <a:endParaRPr b="0" i="0" sz="21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7645825" y="5721427"/>
            <a:ext cx="59679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50"/>
              <a:buFont typeface="Lexend Light"/>
              <a:buNone/>
            </a:pPr>
            <a:r>
              <a:rPr lang="en-US" sz="1700">
                <a:latin typeface="Lexend Light"/>
                <a:ea typeface="Lexend Light"/>
                <a:cs typeface="Lexend Light"/>
                <a:sym typeface="Lexend Light"/>
              </a:rPr>
              <a:t>Manual onboarding and offboarding processes waste hours, create audit gaps, and delay productivity for new hires.</a:t>
            </a:r>
            <a:endParaRPr b="0" i="0" sz="16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1223288" y="2095100"/>
            <a:ext cx="233400" cy="27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1223275" y="5128350"/>
            <a:ext cx="233400" cy="27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852313" y="2104975"/>
            <a:ext cx="233400" cy="27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7852313" y="5118450"/>
            <a:ext cx="233400" cy="270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5" name="Google Shape;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524850" y="311025"/>
            <a:ext cx="8410200" cy="1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 Unified Platform to Manage Your SaaS Universe</a:t>
            </a:r>
            <a:endParaRPr b="0" i="0" sz="445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793790" y="2159410"/>
            <a:ext cx="433800" cy="433800"/>
          </a:xfrm>
          <a:prstGeom prst="roundRect">
            <a:avLst>
              <a:gd fmla="val 18669" name="adj"/>
            </a:avLst>
          </a:prstGeom>
          <a:solidFill>
            <a:srgbClr val="B7B7B7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420297" y="2225608"/>
            <a:ext cx="4329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50"/>
              <a:buFont typeface="Lexend SemiBold"/>
              <a:buNone/>
            </a:pPr>
            <a:r>
              <a:rPr b="1" i="0" lang="en-US" sz="18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Complete Discovery &amp; Management</a:t>
            </a:r>
            <a:endParaRPr b="0" i="0" sz="185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1420297" y="2642446"/>
            <a:ext cx="69300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Lexend Light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One centralized system to discover, manage, and secure every application and user identity across your organization.</a:t>
            </a:r>
            <a:endParaRPr b="0" i="0" sz="150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793790" y="3546764"/>
            <a:ext cx="433800" cy="433800"/>
          </a:xfrm>
          <a:prstGeom prst="roundRect">
            <a:avLst>
              <a:gd fmla="val 18669" name="adj"/>
            </a:avLst>
          </a:prstGeom>
          <a:solidFill>
            <a:srgbClr val="B7B7B7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420297" y="3612963"/>
            <a:ext cx="27633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50"/>
              <a:buFont typeface="Lexend SemiBold"/>
              <a:buNone/>
            </a:pPr>
            <a:r>
              <a:rPr b="1" i="0" lang="en-US" sz="18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Intelligent Automation</a:t>
            </a:r>
            <a:endParaRPr b="0" i="0" sz="185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1420297" y="4029801"/>
            <a:ext cx="69300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Lexend Light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Automated workflows handle onboarding, offboarding, and access reviews without manual intervention or tickets.</a:t>
            </a:r>
            <a:endParaRPr b="0" i="0" sz="1500" u="none" cap="none" strike="noStrike"/>
          </a:p>
        </p:txBody>
      </p:sp>
      <p:sp>
        <p:nvSpPr>
          <p:cNvPr id="93" name="Google Shape;93;p3"/>
          <p:cNvSpPr/>
          <p:nvPr/>
        </p:nvSpPr>
        <p:spPr>
          <a:xfrm>
            <a:off x="793790" y="4934069"/>
            <a:ext cx="433745" cy="433745"/>
          </a:xfrm>
          <a:prstGeom prst="roundRect">
            <a:avLst>
              <a:gd fmla="val 18669" name="adj"/>
            </a:avLst>
          </a:prstGeom>
          <a:solidFill>
            <a:srgbClr val="B7B7B7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420297" y="5000268"/>
            <a:ext cx="2750463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50"/>
              <a:buFont typeface="Lexend SemiBold"/>
              <a:buNone/>
            </a:pPr>
            <a:r>
              <a:rPr b="1" i="0" lang="en-US" sz="18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Real-Time Intelligence</a:t>
            </a:r>
            <a:endParaRPr b="0" i="0" sz="185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1420297" y="5417106"/>
            <a:ext cx="6929914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Lexend Light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Live insights into usage patterns, spend allocation, and access permissions enable proactive decision-making.</a:t>
            </a:r>
            <a:endParaRPr b="0" i="0" sz="1500" u="none" cap="none" strike="noStrike"/>
          </a:p>
        </p:txBody>
      </p:sp>
      <p:sp>
        <p:nvSpPr>
          <p:cNvPr id="96" name="Google Shape;96;p3"/>
          <p:cNvSpPr/>
          <p:nvPr/>
        </p:nvSpPr>
        <p:spPr>
          <a:xfrm>
            <a:off x="793790" y="6419374"/>
            <a:ext cx="433745" cy="433745"/>
          </a:xfrm>
          <a:prstGeom prst="roundRect">
            <a:avLst>
              <a:gd fmla="val 18669" name="adj"/>
            </a:avLst>
          </a:prstGeom>
          <a:solidFill>
            <a:srgbClr val="B7B7B7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420300" y="6485575"/>
            <a:ext cx="53985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50"/>
              <a:buFont typeface="Lexend SemiBold"/>
              <a:buNone/>
            </a:pPr>
            <a:r>
              <a:rPr b="1" lang="en-US" sz="185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Continuous</a:t>
            </a:r>
            <a:r>
              <a:rPr b="1" i="0" lang="en-US" sz="18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</a:t>
            </a:r>
            <a:r>
              <a:rPr b="1" lang="en-US" sz="185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Licence and Usage Monitoring</a:t>
            </a:r>
            <a:endParaRPr b="0" i="0" sz="1850" u="none" cap="none" strike="noStrike"/>
          </a:p>
        </p:txBody>
      </p:sp>
      <p:sp>
        <p:nvSpPr>
          <p:cNvPr id="98" name="Google Shape;98;p3"/>
          <p:cNvSpPr/>
          <p:nvPr/>
        </p:nvSpPr>
        <p:spPr>
          <a:xfrm>
            <a:off x="1420297" y="6902410"/>
            <a:ext cx="6929914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Lexend Light"/>
              <a:buNone/>
            </a:pPr>
            <a:r>
              <a:rPr lang="en-US" sz="15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Continuous</a:t>
            </a:r>
            <a:r>
              <a:rPr b="0" i="0" lang="en-US" sz="15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monitoring identifies </a:t>
            </a:r>
            <a:r>
              <a:rPr lang="en-US" sz="15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licence</a:t>
            </a:r>
            <a:r>
              <a:rPr lang="en-US" sz="15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under utilisation </a:t>
            </a:r>
            <a:r>
              <a:rPr b="0" i="0" lang="en-US" sz="15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opportunities and security risks before they impact your organization.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793075" y="372300"/>
            <a:ext cx="133332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Deep Integrations Across Your IT Landscape</a:t>
            </a:r>
            <a:endParaRPr b="0" i="0" sz="44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675500" y="7608525"/>
            <a:ext cx="12080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Lexend SemiBold"/>
              <a:buNone/>
            </a:pPr>
            <a:r>
              <a:rPr b="1" lang="en-US" sz="195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Zluri has around 300 Native </a:t>
            </a:r>
            <a:r>
              <a:rPr b="1" lang="en-US" sz="195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Connections - </a:t>
            </a:r>
            <a:r>
              <a:rPr b="1" lang="en-US" sz="1950" u="sng">
                <a:solidFill>
                  <a:schemeClr val="hlink"/>
                </a:solidFill>
                <a:latin typeface="Lexend SemiBold"/>
                <a:ea typeface="Lexend SemiBold"/>
                <a:cs typeface="Lexend SemiBold"/>
                <a:sym typeface="Lexend SemiBold"/>
                <a:hlinkClick r:id="rId3"/>
              </a:rPr>
              <a:t>https://www.zluri.com/catalog</a:t>
            </a:r>
            <a:endParaRPr b="1" sz="1950">
              <a:solidFill>
                <a:srgbClr val="22222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93075" y="1711523"/>
            <a:ext cx="5119807" cy="25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675500" y="1965250"/>
            <a:ext cx="4791600" cy="4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Lexend Light"/>
              <a:buNone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Zluri integrates seamlessly with your existing technology stack—SSO providers, HRMS platforms, finance systems</a:t>
            </a:r>
            <a:r>
              <a:rPr lang="en-US" sz="21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and collaboration tools. </a:t>
            </a:r>
            <a:r>
              <a:rPr lang="en-US" sz="21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Bi-directional data synchronization ensures accuracy and creates a single source of truth for users, applications, and access permissions.</a:t>
            </a:r>
            <a:endParaRPr b="0" i="0" sz="2100" u="none" cap="none" strike="noStrike"/>
          </a:p>
        </p:txBody>
      </p:sp>
      <p:pic>
        <p:nvPicPr>
          <p:cNvPr id="108" name="Google Shape;108;p4" title="Screenshot 2025-10-29 at 22.29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2875" y="1234450"/>
            <a:ext cx="8335750" cy="58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5741125" y="1626325"/>
            <a:ext cx="8095500" cy="4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Lexend SemiBold"/>
              <a:buNone/>
            </a:pPr>
            <a:r>
              <a:rPr b="1" lang="en-US" sz="6800">
                <a:latin typeface="Lexend SemiBold"/>
                <a:ea typeface="Lexend SemiBold"/>
                <a:cs typeface="Lexend SemiBold"/>
                <a:sym typeface="Lexend SemiBold"/>
              </a:rPr>
              <a:t>Three </a:t>
            </a:r>
            <a:r>
              <a:rPr b="1" i="0" lang="en-US" sz="68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Modules.</a:t>
            </a:r>
            <a:endParaRPr b="1" i="0" sz="6800" u="none" cap="none" strike="noStrike">
              <a:solidFill>
                <a:srgbClr val="00000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Lexend SemiBold"/>
              <a:buNone/>
            </a:pPr>
            <a:r>
              <a:rPr b="1" i="0" lang="en-US" sz="68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One Platform.</a:t>
            </a:r>
            <a:endParaRPr b="1" i="0" sz="6800" u="none" cap="none" strike="noStrike">
              <a:solidFill>
                <a:srgbClr val="000000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Lexend SemiBold"/>
              <a:buNone/>
            </a:pPr>
            <a:r>
              <a:rPr b="1" i="0" lang="en-US" sz="68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Complete Control.</a:t>
            </a:r>
            <a:endParaRPr b="0" i="0" sz="68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793800" y="350975"/>
            <a:ext cx="12785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Zluri's Integrated Module Suite</a:t>
            </a:r>
            <a:endParaRPr b="0" i="0" sz="4450" u="none" cap="none" strike="noStrike"/>
          </a:p>
        </p:txBody>
      </p:sp>
      <p:sp>
        <p:nvSpPr>
          <p:cNvPr id="122" name="Google Shape;122;p6"/>
          <p:cNvSpPr/>
          <p:nvPr/>
        </p:nvSpPr>
        <p:spPr>
          <a:xfrm>
            <a:off x="793790" y="1666518"/>
            <a:ext cx="6407944" cy="2845118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3047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24270" y="1696998"/>
            <a:ext cx="6346984" cy="680442"/>
          </a:xfrm>
          <a:prstGeom prst="roundRect">
            <a:avLst>
              <a:gd fmla="val 86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827621" y="182070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</a:t>
            </a:r>
            <a:endParaRPr b="0" i="0" sz="265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1051084" y="2604254"/>
            <a:ext cx="400061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Lexend SemiBold"/>
              <a:buNone/>
            </a:pPr>
            <a:r>
              <a:rPr b="1" lang="en-US" sz="265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SaaS Discovery</a:t>
            </a:r>
            <a:r>
              <a:rPr b="1" lang="en-US" sz="220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</a:t>
            </a:r>
            <a:endParaRPr b="0" i="0" sz="2200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1051084" y="3094673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Lexend Light"/>
              <a:buNone/>
            </a:pPr>
            <a:r>
              <a:rPr b="0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Comprehensive visibility into your entire SaaS ecosystem. Discover Shadow IT, control spend, and optimize license allocation across departments.</a:t>
            </a:r>
            <a:endParaRPr b="0" i="0" sz="175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7428548" y="1666518"/>
            <a:ext cx="6408063" cy="2845118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3047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459027" y="1696998"/>
            <a:ext cx="6347103" cy="680442"/>
          </a:xfrm>
          <a:prstGeom prst="roundRect">
            <a:avLst>
              <a:gd fmla="val 86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462498" y="182070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2</a:t>
            </a:r>
            <a:endParaRPr b="0" i="0" sz="265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7685842" y="2604254"/>
            <a:ext cx="3479959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Access Management</a:t>
            </a:r>
            <a:endParaRPr b="0" i="0" sz="265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7685842" y="3165634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Lexend Light"/>
              <a:buNone/>
            </a:pPr>
            <a:r>
              <a:rPr b="0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Automate the complete employee lifecycle—from joiner provisioning through role changes to offboarding—with zero manual intervention.</a:t>
            </a:r>
            <a:endParaRPr b="0" i="0" sz="175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93790" y="4738449"/>
            <a:ext cx="6407944" cy="2845118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3047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24270" y="4768929"/>
            <a:ext cx="6346984" cy="680442"/>
          </a:xfrm>
          <a:prstGeom prst="roundRect">
            <a:avLst>
              <a:gd fmla="val 86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827621" y="48926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3</a:t>
            </a:r>
            <a:endParaRPr b="0" i="0" sz="265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1051071" y="5676174"/>
            <a:ext cx="4944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User Access Reviews</a:t>
            </a:r>
            <a:endParaRPr b="0" i="0" sz="265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1051084" y="6237565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Lexend Light"/>
              <a:buNone/>
            </a:pPr>
            <a:r>
              <a:rPr b="0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Maintain continuous compliance with automated access certifications and least-privilege governance frameworks.</a:t>
            </a:r>
            <a:endParaRPr b="0" i="0" sz="175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7428548" y="4738449"/>
            <a:ext cx="6408063" cy="2845118"/>
          </a:xfrm>
          <a:prstGeom prst="roundRect">
            <a:avLst>
              <a:gd fmla="val 3348" name="adj"/>
            </a:avLst>
          </a:prstGeom>
          <a:solidFill>
            <a:srgbClr val="FFFFFF"/>
          </a:solidFill>
          <a:ln cap="flat" cmpd="sng" w="3047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7459027" y="4768929"/>
            <a:ext cx="6347103" cy="680442"/>
          </a:xfrm>
          <a:prstGeom prst="roundRect">
            <a:avLst>
              <a:gd fmla="val 862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0462498" y="489263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4</a:t>
            </a:r>
            <a:endParaRPr b="0" i="0" sz="265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7685842" y="5676186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650"/>
              <a:buFont typeface="Lexend SemiBold"/>
              <a:buNone/>
            </a:pPr>
            <a:r>
              <a:rPr b="1" i="0" lang="en-US" sz="26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Access Requests</a:t>
            </a:r>
            <a:endParaRPr b="0" i="0" sz="2650" u="none" cap="none" strike="noStrike"/>
          </a:p>
        </p:txBody>
      </p:sp>
      <p:sp>
        <p:nvSpPr>
          <p:cNvPr id="141" name="Google Shape;141;p6"/>
          <p:cNvSpPr/>
          <p:nvPr/>
        </p:nvSpPr>
        <p:spPr>
          <a:xfrm>
            <a:off x="7685842" y="6237565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50"/>
              <a:buFont typeface="Lexend Light"/>
              <a:buNone/>
            </a:pPr>
            <a:r>
              <a:rPr b="0" i="0" lang="en-US" sz="17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Empower employees with self-service access requests through policy-based automation, reducing IT bottlenecks and approval delays.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548650" y="293925"/>
            <a:ext cx="139707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SaaS </a:t>
            </a:r>
            <a:r>
              <a:rPr b="1" lang="en-US" sz="4450">
                <a:latin typeface="Lexend SemiBold"/>
                <a:ea typeface="Lexend SemiBold"/>
                <a:cs typeface="Lexend SemiBold"/>
                <a:sym typeface="Lexend SemiBold"/>
              </a:rPr>
              <a:t>Discovery</a:t>
            </a: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: Discover, Mon</a:t>
            </a:r>
            <a:r>
              <a:rPr b="1" lang="en-US" sz="4450">
                <a:latin typeface="Lexend SemiBold"/>
                <a:ea typeface="Lexend SemiBold"/>
                <a:cs typeface="Lexend SemiBold"/>
                <a:sym typeface="Lexend SemiBold"/>
              </a:rPr>
              <a:t>itor, </a:t>
            </a: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Analyze</a:t>
            </a:r>
            <a:endParaRPr b="0" i="0" sz="4450" u="none" cap="none" strike="noStrike"/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25" y="1520650"/>
            <a:ext cx="5283599" cy="518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6309894" y="1256325"/>
            <a:ext cx="497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Lexend SemiBold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Complete SaaS Visibility</a:t>
            </a:r>
            <a:endParaRPr b="0" i="0" sz="250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6074250" y="1905556"/>
            <a:ext cx="77829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Lexend Light"/>
              <a:buChar char="•"/>
            </a:pPr>
            <a:r>
              <a:rPr b="0" i="0" lang="en-US" sz="20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Automatically discover all SaaS applications in use, including Shadow IT purchases made outside approved channels</a:t>
            </a:r>
            <a:endParaRPr b="0" i="0" sz="2000" u="none" cap="none" strike="noStrike"/>
          </a:p>
        </p:txBody>
      </p:sp>
      <p:sp>
        <p:nvSpPr>
          <p:cNvPr id="151" name="Google Shape;151;p7"/>
          <p:cNvSpPr/>
          <p:nvPr/>
        </p:nvSpPr>
        <p:spPr>
          <a:xfrm>
            <a:off x="6074250" y="2900648"/>
            <a:ext cx="77829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Lexend Light"/>
              <a:buChar char="•"/>
            </a:pPr>
            <a:r>
              <a:rPr b="0" i="0" lang="en-US" sz="20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Track usage metrics, cost allocation, and ownership across every department and team</a:t>
            </a:r>
            <a:endParaRPr b="0" i="0" sz="20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6074250" y="4058775"/>
            <a:ext cx="8347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Lexend Light"/>
              <a:buChar char="•"/>
            </a:pPr>
            <a:r>
              <a:rPr b="0" i="0" lang="en-US" sz="20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Identify redundant subscriptions and underutilized tools draining your budget</a:t>
            </a:r>
            <a:endParaRPr b="0" i="0" sz="200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6074250" y="5055599"/>
            <a:ext cx="77829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34290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Lexend Light"/>
              <a:buChar char="•"/>
            </a:pPr>
            <a:r>
              <a:rPr b="0" i="0" lang="en-US" sz="20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Enable data-driven strategic consolidation and </a:t>
            </a:r>
            <a:r>
              <a:rPr lang="en-US" sz="20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decision making</a:t>
            </a:r>
            <a:endParaRPr b="0" i="0" sz="2000" u="none" cap="none" strike="noStrike"/>
          </a:p>
        </p:txBody>
      </p:sp>
      <p:sp>
        <p:nvSpPr>
          <p:cNvPr id="154" name="Google Shape;154;p7"/>
          <p:cNvSpPr/>
          <p:nvPr/>
        </p:nvSpPr>
        <p:spPr>
          <a:xfrm>
            <a:off x="6074249" y="6372025"/>
            <a:ext cx="38022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Font typeface="Lexend SemiBold"/>
              <a:buNone/>
            </a:pPr>
            <a:r>
              <a:rPr b="1" i="0" lang="en-US" sz="41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100%</a:t>
            </a:r>
            <a:endParaRPr b="0" i="0" sz="410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7082211" y="6973422"/>
            <a:ext cx="17862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50"/>
              <a:buFont typeface="Lexend SemiBold"/>
              <a:buNone/>
            </a:pPr>
            <a:r>
              <a:rPr b="1" i="0" lang="en-US" sz="17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SaaS Visibility</a:t>
            </a:r>
            <a:endParaRPr b="0" i="0" sz="170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6162684" y="7397226"/>
            <a:ext cx="3802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Lexend Light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Including Shadow IT</a:t>
            </a:r>
            <a:endParaRPr b="0" i="0" sz="17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10054963" y="6221275"/>
            <a:ext cx="38022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Font typeface="Lexend SemiBold"/>
              <a:buNone/>
            </a:pPr>
            <a:r>
              <a:rPr b="1" i="0" lang="en-US" sz="41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300</a:t>
            </a:r>
            <a:endParaRPr b="0" i="0" sz="410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10892480" y="6894914"/>
            <a:ext cx="2838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50"/>
              <a:buFont typeface="Lexend SemiBold"/>
              <a:buNone/>
            </a:pPr>
            <a:r>
              <a:rPr b="1" i="0" lang="en-US" sz="17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Direct App Integrations</a:t>
            </a:r>
            <a:endParaRPr b="0" i="0" sz="170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10231751" y="7399076"/>
            <a:ext cx="3802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Lexend Light"/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Native connections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996552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5133700" y="160500"/>
            <a:ext cx="901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Access Management </a:t>
            </a:r>
            <a:endParaRPr b="0" i="0" sz="4450" u="none" cap="none" strike="noStrike"/>
          </a:p>
        </p:txBody>
      </p:sp>
      <p:sp>
        <p:nvSpPr>
          <p:cNvPr id="167" name="Google Shape;167;p8"/>
          <p:cNvSpPr/>
          <p:nvPr/>
        </p:nvSpPr>
        <p:spPr>
          <a:xfrm>
            <a:off x="5508850" y="1547950"/>
            <a:ext cx="86385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Lexend SemiBold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Automate Every Employee Journey</a:t>
            </a:r>
            <a:endParaRPr b="0" i="0" sz="24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5314100" y="2326742"/>
            <a:ext cx="86385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Trigger workflows automatically from HR system events—no manual handoffs</a:t>
            </a:r>
            <a:endParaRPr b="0" i="0" sz="210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5314100" y="3318399"/>
            <a:ext cx="86385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Provision or deprovision accounts instantly across all connected applications</a:t>
            </a:r>
            <a:endParaRPr b="0" i="0" sz="21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5314100" y="4544013"/>
            <a:ext cx="86385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Assign appropriate licenses and permissions based on role and department</a:t>
            </a:r>
            <a:endParaRPr b="0" i="0" sz="21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5314100" y="5769626"/>
            <a:ext cx="8638500" cy="8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Maintain comprehensive audit logs for compliance and security reviews</a:t>
            </a:r>
            <a:endParaRPr b="0" i="0" sz="2100" u="none" cap="none" strike="noStrike"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0315" y="7089037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6732815" y="7247747"/>
            <a:ext cx="1984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50"/>
              <a:buFont typeface="Lexend SemiBold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Joiner</a:t>
            </a:r>
            <a:endParaRPr b="0" i="0" sz="175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6732815" y="7673979"/>
            <a:ext cx="660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Lexend Light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Instant provisioning</a:t>
            </a:r>
            <a:endParaRPr b="0" i="0" sz="1250" u="none" cap="none" strike="noStrike"/>
          </a:p>
        </p:txBody>
      </p:sp>
      <p:pic>
        <p:nvPicPr>
          <p:cNvPr descr="preencoded.png" id="175" name="Google Shape;17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4528" y="7089031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9587028" y="7271916"/>
            <a:ext cx="1984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50"/>
              <a:buFont typeface="Lexend SemiBold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Mover</a:t>
            </a:r>
            <a:endParaRPr b="0" i="0" sz="175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9600065" y="7673973"/>
            <a:ext cx="660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Lexend Light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Role-based updates</a:t>
            </a:r>
            <a:endParaRPr b="0" i="0" sz="1250" u="none" cap="none" strike="noStrike"/>
          </a:p>
        </p:txBody>
      </p:sp>
      <p:pic>
        <p:nvPicPr>
          <p:cNvPr descr="preencoded.png" id="178" name="Google Shape;17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88740" y="7172000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12441240" y="7271935"/>
            <a:ext cx="1984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50"/>
              <a:buFont typeface="Lexend SemiBold"/>
              <a:buNone/>
            </a:pPr>
            <a:r>
              <a:rPr b="1" i="0" lang="en-US" sz="15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Leaver</a:t>
            </a:r>
            <a:endParaRPr b="0" i="0" sz="155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12441240" y="7673967"/>
            <a:ext cx="660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50"/>
              <a:buFont typeface="Lexend Light"/>
              <a:buNone/>
            </a:pPr>
            <a:r>
              <a:rPr b="0" i="0" lang="en-US" sz="12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Complete deprovisioning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Google Shape;186;g3985bdb4dc1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996552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985bdb4dc1_0_3"/>
          <p:cNvSpPr/>
          <p:nvPr/>
        </p:nvSpPr>
        <p:spPr>
          <a:xfrm>
            <a:off x="5133700" y="339525"/>
            <a:ext cx="9013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Access Requests</a:t>
            </a:r>
            <a:endParaRPr b="0" i="0" sz="4450" u="none" cap="none" strike="noStrike"/>
          </a:p>
        </p:txBody>
      </p:sp>
      <p:sp>
        <p:nvSpPr>
          <p:cNvPr id="188" name="Google Shape;188;g3985bdb4dc1_0_3"/>
          <p:cNvSpPr/>
          <p:nvPr/>
        </p:nvSpPr>
        <p:spPr>
          <a:xfrm>
            <a:off x="5936723" y="1410800"/>
            <a:ext cx="80673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Lexend SemiBold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Empower Self-Service Access</a:t>
            </a:r>
            <a:endParaRPr b="0" i="0" sz="2100" u="none" cap="none" strike="noStrike"/>
          </a:p>
        </p:txBody>
      </p:sp>
      <p:sp>
        <p:nvSpPr>
          <p:cNvPr id="189" name="Google Shape;189;g3985bdb4dc1_0_3"/>
          <p:cNvSpPr/>
          <p:nvPr/>
        </p:nvSpPr>
        <p:spPr>
          <a:xfrm>
            <a:off x="5603975" y="2107675"/>
            <a:ext cx="78966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Policy-driven access request workflows embedded in Slack</a:t>
            </a:r>
            <a:endParaRPr b="0" i="0" sz="2100" u="none" cap="none" strike="noStrike"/>
          </a:p>
        </p:txBody>
      </p:sp>
      <p:sp>
        <p:nvSpPr>
          <p:cNvPr id="190" name="Google Shape;190;g3985bdb4dc1_0_3"/>
          <p:cNvSpPr/>
          <p:nvPr/>
        </p:nvSpPr>
        <p:spPr>
          <a:xfrm>
            <a:off x="5603975" y="2701675"/>
            <a:ext cx="78966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Multi-level approval chains with justification tracking and audit trails</a:t>
            </a:r>
            <a:endParaRPr b="0" i="0" sz="2100" u="none" cap="none" strike="noStrike"/>
          </a:p>
        </p:txBody>
      </p:sp>
      <p:sp>
        <p:nvSpPr>
          <p:cNvPr id="191" name="Google Shape;191;g3985bdb4dc1_0_3"/>
          <p:cNvSpPr/>
          <p:nvPr/>
        </p:nvSpPr>
        <p:spPr>
          <a:xfrm>
            <a:off x="5603975" y="3793676"/>
            <a:ext cx="78966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Auto-grant capabilities for pre-approved access patterns</a:t>
            </a:r>
            <a:endParaRPr b="0" i="0" sz="2100" u="none" cap="none" strike="noStrike"/>
          </a:p>
        </p:txBody>
      </p:sp>
      <p:sp>
        <p:nvSpPr>
          <p:cNvPr id="192" name="Google Shape;192;g3985bdb4dc1_0_3"/>
          <p:cNvSpPr/>
          <p:nvPr/>
        </p:nvSpPr>
        <p:spPr>
          <a:xfrm>
            <a:off x="5603975" y="4368675"/>
            <a:ext cx="7896600" cy="2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6875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100"/>
              <a:buFont typeface="Lexend Light"/>
              <a:buChar char="•"/>
            </a:pPr>
            <a:r>
              <a:rPr b="0" i="0" lang="en-US" sz="21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Auto-revoke functionality ensures time-bound access expires automatically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312050" y="158750"/>
            <a:ext cx="88305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User Access Reviews: Stay Audit-Ready, Always</a:t>
            </a:r>
            <a:endParaRPr b="0" i="0" sz="445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312050" y="1827900"/>
            <a:ext cx="8648400" cy="1222800"/>
          </a:xfrm>
          <a:prstGeom prst="roundRect">
            <a:avLst>
              <a:gd fmla="val 5628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89950" y="1967038"/>
            <a:ext cx="4212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Lexend SemiBold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Automated Certifications</a:t>
            </a:r>
            <a:endParaRPr b="0" i="0" sz="175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478400" y="2326550"/>
            <a:ext cx="83409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Schedule periodic access reviews automatically based on your compliance calendar and regulatory requirements.</a:t>
            </a:r>
            <a:endParaRPr b="0" i="0" sz="155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312150" y="3230575"/>
            <a:ext cx="8648400" cy="1222800"/>
          </a:xfrm>
          <a:prstGeom prst="roundRect">
            <a:avLst>
              <a:gd fmla="val 5628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78400" y="3269526"/>
            <a:ext cx="24570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Lexend SemiBold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Risk Detection</a:t>
            </a:r>
            <a:endParaRPr b="0" i="0" sz="175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489950" y="3652725"/>
            <a:ext cx="83409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Identify inactive accounts, over-provisioned users, and privilege creep before auditors or attackers discover them.</a:t>
            </a:r>
            <a:endParaRPr b="0" i="0" sz="15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312150" y="4600625"/>
            <a:ext cx="8648400" cy="1100400"/>
          </a:xfrm>
          <a:prstGeom prst="roundRect">
            <a:avLst>
              <a:gd fmla="val 5628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78400" y="4732199"/>
            <a:ext cx="3265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Lexend SemiBold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Flexible Review Types</a:t>
            </a:r>
            <a:endParaRPr b="0" i="0" sz="175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489950" y="5074375"/>
            <a:ext cx="83409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Support manager-based, application owner, or role-based review workflows tailored to your organization.</a:t>
            </a:r>
            <a:endParaRPr b="0" i="0" sz="155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312150" y="5848275"/>
            <a:ext cx="8648400" cy="1222800"/>
          </a:xfrm>
          <a:prstGeom prst="roundRect">
            <a:avLst>
              <a:gd fmla="val 7163" name="adj"/>
            </a:avLst>
          </a:prstGeom>
          <a:solidFill>
            <a:schemeClr val="lt2"/>
          </a:solidFill>
          <a:ln cap="flat" cmpd="sng" w="9525">
            <a:solidFill>
              <a:srgbClr val="D8E5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78396" y="5925825"/>
            <a:ext cx="2873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Lexend SemiBold"/>
              <a:buNone/>
            </a:pPr>
            <a:r>
              <a:rPr b="1" i="0" lang="en-US" sz="17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Audit-Ready Reports</a:t>
            </a:r>
            <a:endParaRPr b="0" i="0" sz="1750" u="none" cap="none" strike="noStrike"/>
          </a:p>
        </p:txBody>
      </p:sp>
      <p:sp>
        <p:nvSpPr>
          <p:cNvPr id="211" name="Google Shape;211;p9"/>
          <p:cNvSpPr/>
          <p:nvPr/>
        </p:nvSpPr>
        <p:spPr>
          <a:xfrm>
            <a:off x="489950" y="6322025"/>
            <a:ext cx="83409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15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Generate exportable compliance reports and trigger auto-remediation for identified access violations.</a:t>
            </a:r>
            <a:endParaRPr b="0" i="0" sz="1550" u="none" cap="none" strike="noStrike"/>
          </a:p>
        </p:txBody>
      </p:sp>
      <p:sp>
        <p:nvSpPr>
          <p:cNvPr id="212" name="Google Shape;212;p9"/>
          <p:cNvSpPr/>
          <p:nvPr/>
        </p:nvSpPr>
        <p:spPr>
          <a:xfrm>
            <a:off x="312050" y="7218325"/>
            <a:ext cx="8648400" cy="861900"/>
          </a:xfrm>
          <a:prstGeom prst="roundRect">
            <a:avLst>
              <a:gd fmla="val 718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97425" y="7373375"/>
            <a:ext cx="83409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Lexend Light"/>
              <a:buNone/>
            </a:pPr>
            <a:r>
              <a:rPr b="1" lang="en-US" sz="1750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Continuous Compliance</a:t>
            </a:r>
            <a:r>
              <a:rPr b="1" i="0" lang="en-US" sz="14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b="1" i="0" lang="en-US" sz="145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Lexend Light"/>
                <a:ea typeface="Lexend Light"/>
                <a:cs typeface="Lexend Light"/>
                <a:sym typeface="Lexend Light"/>
              </a:rPr>
              <a:t>Zluri maintains least-privilege access governance across your entire SaaS portfolio, ensuring you're always ready for audits without manual preparation.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652650" y="349900"/>
            <a:ext cx="13670400" cy="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Lexend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Re-imagine SaaS and Access Governance</a:t>
            </a:r>
            <a:endParaRPr b="0" i="0" sz="445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3958850" y="1655428"/>
            <a:ext cx="18132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900"/>
              <a:buFont typeface="Lexend SemiBold"/>
              <a:buNone/>
            </a:pPr>
            <a:r>
              <a:rPr b="1" i="0" lang="en-US" sz="43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100%</a:t>
            </a:r>
            <a:endParaRPr b="0" i="0" sz="430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3348725" y="2794791"/>
            <a:ext cx="33069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Lexend SemiBold"/>
              <a:buNone/>
            </a:pPr>
            <a:r>
              <a:rPr b="1" i="0" lang="en-US" sz="25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SaaS Visibility</a:t>
            </a:r>
            <a:endParaRPr b="0" i="0" sz="255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2616500" y="3476402"/>
            <a:ext cx="44979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22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Complete ecosystem transparency</a:t>
            </a:r>
            <a:endParaRPr b="0" i="0" sz="225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8486053" y="1673250"/>
            <a:ext cx="18132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900"/>
              <a:buFont typeface="Lexend SemiBold"/>
              <a:buNone/>
            </a:pPr>
            <a:r>
              <a:rPr b="1" i="0" lang="en-US" sz="430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90%</a:t>
            </a:r>
            <a:endParaRPr b="0" i="0" sz="4300" u="none" cap="none" strike="noStrike"/>
          </a:p>
        </p:txBody>
      </p:sp>
      <p:sp>
        <p:nvSpPr>
          <p:cNvPr id="224" name="Google Shape;224;p10"/>
          <p:cNvSpPr/>
          <p:nvPr/>
        </p:nvSpPr>
        <p:spPr>
          <a:xfrm>
            <a:off x="7853553" y="2757288"/>
            <a:ext cx="33789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Lexend SemiBold"/>
              <a:buNone/>
            </a:pPr>
            <a:r>
              <a:rPr b="1" i="0" lang="en-US" sz="2550" u="none" cap="none" strike="noStrike">
                <a:solidFill>
                  <a:srgbClr val="22222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Faster Lifecycle</a:t>
            </a:r>
            <a:endParaRPr b="0" i="0" sz="255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7430550" y="3439650"/>
            <a:ext cx="42249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22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Onboarding &amp; </a:t>
            </a:r>
            <a:endParaRPr b="0" i="0" sz="2250" u="none" cap="none" strike="noStrike">
              <a:solidFill>
                <a:srgbClr val="222222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22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offboarding</a:t>
            </a:r>
            <a:endParaRPr b="0" i="0" sz="225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793790" y="4669924"/>
            <a:ext cx="13042800" cy="26100"/>
          </a:xfrm>
          <a:prstGeom prst="rect">
            <a:avLst/>
          </a:prstGeom>
          <a:solidFill>
            <a:srgbClr val="222222">
              <a:alpha val="4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93875" y="4917823"/>
            <a:ext cx="84858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exend SemiBold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Ready to Transform Your SaaS Management?</a:t>
            </a:r>
            <a:endParaRPr b="0" i="0" sz="260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793800" y="5629776"/>
            <a:ext cx="84858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20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Discover how Zluri can secure your applications, ensure compliance, and </a:t>
            </a:r>
            <a:r>
              <a:rPr lang="en-US" sz="205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manage access </a:t>
            </a:r>
            <a:r>
              <a:rPr b="0" i="0" lang="en-US" sz="20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—all from one unified platform.</a:t>
            </a:r>
            <a:endParaRPr b="0" i="0" sz="2050" u="none" cap="none" strike="noStrike"/>
          </a:p>
        </p:txBody>
      </p:sp>
      <p:sp>
        <p:nvSpPr>
          <p:cNvPr id="229" name="Google Shape;229;p10"/>
          <p:cNvSpPr/>
          <p:nvPr/>
        </p:nvSpPr>
        <p:spPr>
          <a:xfrm>
            <a:off x="793763" y="6738794"/>
            <a:ext cx="84858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b="0" i="0" lang="en-US" sz="205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Website: </a:t>
            </a:r>
            <a:r>
              <a:rPr b="0" i="0" lang="en-US" sz="2050" u="sng" cap="none" strike="noStrike">
                <a:solidFill>
                  <a:srgbClr val="66666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www.zluri.com</a:t>
            </a:r>
            <a:endParaRPr b="0" i="0" sz="2050" u="none" cap="none" strike="noStrike">
              <a:solidFill>
                <a:srgbClr val="666666"/>
              </a:solidFill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793840" y="7245859"/>
            <a:ext cx="8485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Lexend Light"/>
              <a:buNone/>
            </a:pPr>
            <a:r>
              <a:rPr lang="en-US" sz="205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Contact: </a:t>
            </a:r>
            <a:r>
              <a:rPr lang="en-US" sz="2050" u="sng">
                <a:solidFill>
                  <a:srgbClr val="66666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sales@zluri.com</a:t>
            </a:r>
            <a:endParaRPr sz="2050" u="sng">
              <a:solidFill>
                <a:srgbClr val="66666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70421" y="5320245"/>
            <a:ext cx="3808599" cy="164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180" y="566005"/>
            <a:ext cx="9464040" cy="40919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5046950" y="4921976"/>
            <a:ext cx="45366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Lexend SemiBold"/>
              <a:buNone/>
            </a:pPr>
            <a:r>
              <a:rPr b="1" i="0" lang="en-US" sz="3650" u="none" cap="none" strike="noStrike">
                <a:solidFill>
                  <a:srgbClr val="000000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Thank You!</a:t>
            </a:r>
            <a:endParaRPr b="0" i="0" sz="3650" u="none" cap="none" strike="noStrike"/>
          </a:p>
        </p:txBody>
      </p:sp>
      <p:sp>
        <p:nvSpPr>
          <p:cNvPr id="239" name="Google Shape;239;p11"/>
          <p:cNvSpPr/>
          <p:nvPr/>
        </p:nvSpPr>
        <p:spPr>
          <a:xfrm>
            <a:off x="793800" y="5757149"/>
            <a:ext cx="13042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Lexend Light"/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We appreciate your time and interest in Zluri. We're dedicated to helping you secure your applications, ensure compliance, and optimize costs efficiently.</a:t>
            </a:r>
            <a:endParaRPr b="0" i="0" sz="1900" u="none" cap="none" strike="noStrike"/>
          </a:p>
        </p:txBody>
      </p:sp>
      <p:sp>
        <p:nvSpPr>
          <p:cNvPr id="240" name="Google Shape;240;p11"/>
          <p:cNvSpPr/>
          <p:nvPr/>
        </p:nvSpPr>
        <p:spPr>
          <a:xfrm>
            <a:off x="793800" y="6720424"/>
            <a:ext cx="130428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Lexend Light"/>
              <a:buNone/>
            </a:pPr>
            <a:r>
              <a:rPr b="0" i="0" lang="en-US" sz="1900" u="none" cap="none" strike="noStrike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Ready to transform your SaaS management? Visit our website: </a:t>
            </a:r>
            <a:r>
              <a:rPr b="0" i="0" lang="en-US" sz="1900" u="sng" cap="none" strike="noStrike">
                <a:solidFill>
                  <a:srgbClr val="719900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www.zluri.com</a:t>
            </a:r>
            <a:r>
              <a:rPr lang="en-US" sz="1900">
                <a:solidFill>
                  <a:srgbClr val="222222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b="0" i="0" sz="19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2025-10-29T15:28:37Z</dcterms:created>
</cp:coreProperties>
</file>